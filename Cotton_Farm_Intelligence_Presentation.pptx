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E1C14"/>
          </a:solidFill>
          <a:ln w="15240">
            <a:solidFill>
              <a:srgbClr val="1A3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🌾 KHANDESH AGRO-INTELLIGENCE</a:t>
            </a:r>
          </a:p>
          <a:p>
            <a:pPr>
              <a:spcAft>
                <a:spcPts val="800"/>
              </a:spcAft>
              <a:defRPr sz="3200" b="1">
                <a:solidFill>
                  <a:srgbClr val="F8FAFC"/>
                </a:solidFill>
              </a:defRPr>
            </a:pPr>
            <a:r>
              <a:t>Cotton Farm Intelligence &amp; Leaf Disease Diagnostic System</a:t>
            </a:r>
          </a:p>
          <a:p>
            <a:pPr>
              <a:defRPr sz="1500">
                <a:solidFill>
                  <a:srgbClr val="F59E0B"/>
                </a:solidFill>
              </a:defRPr>
            </a:pPr>
            <a:r>
              <a:t>धुळे कापूस कृषी बुद्धिमत्ता — Deep Learning Diagnostics &amp; Agro-Climatic Intelligence for Dhule District, Maharashtra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383280"/>
            <a:ext cx="2286000" cy="1554480"/>
          </a:xfrm>
          <a:prstGeom prst="roundRect">
            <a:avLst/>
          </a:prstGeom>
          <a:solidFill>
            <a:srgbClr val="142A1E"/>
          </a:solidFill>
          <a:ln>
            <a:solidFill>
              <a:srgbClr val="22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89.90%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</a:defRPr>
            </a:pPr>
            <a:r>
              <a:t>Untouched Test Accuracy</a:t>
            </a:r>
          </a:p>
          <a:p>
            <a:pPr>
              <a:spcBef>
                <a:spcPts val="200"/>
              </a:spcBef>
              <a:defRPr sz="900">
                <a:solidFill>
                  <a:srgbClr val="A7BAAD"/>
                </a:solidFill>
              </a:defRPr>
            </a:pPr>
            <a:r>
              <a:t>Rigorous evaluation on 871 test leaves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383280"/>
            <a:ext cx="2286000" cy="1554480"/>
          </a:xfrm>
          <a:prstGeom prst="roundRect">
            <a:avLst/>
          </a:prstGeom>
          <a:solidFill>
            <a:srgbClr val="142A1E"/>
          </a:solidFill>
          <a:ln>
            <a:solidFill>
              <a:srgbClr val="22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5,852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</a:defRPr>
            </a:pPr>
            <a:r>
              <a:t>DSU Leaf Clusters</a:t>
            </a:r>
          </a:p>
          <a:p>
            <a:pPr>
              <a:spcBef>
                <a:spcPts val="200"/>
              </a:spcBef>
              <a:defRPr sz="900">
                <a:solidFill>
                  <a:srgbClr val="A7BAAD"/>
                </a:solidFill>
              </a:defRPr>
            </a:pPr>
            <a:r>
              <a:t>14,955 images forensic leakage audited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383280"/>
            <a:ext cx="2286000" cy="1554480"/>
          </a:xfrm>
          <a:prstGeom prst="roundRect">
            <a:avLst/>
          </a:prstGeom>
          <a:solidFill>
            <a:srgbClr val="142A1E"/>
          </a:solidFill>
          <a:ln>
            <a:solidFill>
              <a:srgbClr val="22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1.87 L Ha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</a:defRPr>
            </a:pPr>
            <a:r>
              <a:t>Dhule Cotton Acreage</a:t>
            </a:r>
          </a:p>
          <a:p>
            <a:pPr>
              <a:spcBef>
                <a:spcPts val="200"/>
              </a:spcBef>
              <a:defRPr sz="900">
                <a:solidFill>
                  <a:srgbClr val="A7BAAD"/>
                </a:solidFill>
              </a:defRPr>
            </a:pPr>
            <a:r>
              <a:t>Dhule, Shirpur, Sindkheda &amp; Sakri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3383280"/>
            <a:ext cx="2286000" cy="1554480"/>
          </a:xfrm>
          <a:prstGeom prst="roundRect">
            <a:avLst/>
          </a:prstGeom>
          <a:solidFill>
            <a:srgbClr val="142A1E"/>
          </a:solidFill>
          <a:ln>
            <a:solidFill>
              <a:srgbClr val="22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9 Classes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</a:defRPr>
            </a:pPr>
            <a:r>
              <a:t>Foliar Pathologies</a:t>
            </a:r>
          </a:p>
          <a:p>
            <a:pPr>
              <a:spcBef>
                <a:spcPts val="200"/>
              </a:spcBef>
              <a:defRPr sz="900">
                <a:solidFill>
                  <a:srgbClr val="A7BAAD"/>
                </a:solidFill>
              </a:defRPr>
            </a:pPr>
            <a:r>
              <a:t>MobileNetV2 Transfer Learning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AAD"/>
                </a:solidFill>
              </a:defRPr>
            </a:pPr>
            <a:r>
              <a:t>B.Tech Information Technology Capstone Project  •  Phase 1 Baseline &amp; Web Deployment Platform  •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REGIONAL GEOGRAPHY &amp; AGRONOMY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Dhule District: The Khandesh 'White Gold' Cotton Belt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धुळे जिल्हा - खान्देश पांढरे सोने कृषी पर्यावरण (Agro-Ecosystem Context)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🌾 Agronomic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Khandesh Commodity Hub: </a:t>
            </a:r>
            <a:r>
              <a:rPr sz="1050">
                <a:solidFill>
                  <a:srgbClr val="F8FAFC"/>
                </a:solidFill>
              </a:rPr>
              <a:t>Cotton is the primary cash crop of North Maharashtra, known regionally as 'पांढरे सोने' (White Gold).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Total Cultivation Area: </a:t>
            </a:r>
            <a:r>
              <a:rPr sz="1050">
                <a:solidFill>
                  <a:srgbClr val="F8FAFC"/>
                </a:solidFill>
              </a:rPr>
              <a:t>Over 1,87,000 Hectares (1.87 L Ha) dedicated to cotton across Dhule district during the Kharif season.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Rainfed Vulnerability: </a:t>
            </a:r>
            <a:r>
              <a:rPr sz="1050">
                <a:solidFill>
                  <a:srgbClr val="F8FAFC"/>
                </a:solidFill>
              </a:rPr>
              <a:t>Approximately 68% of cotton tracts are dependent on rainfed semi-arid monsoon precipitation (650–750 mm annually).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Climatic Pressures: </a:t>
            </a:r>
            <a:r>
              <a:rPr sz="1050">
                <a:solidFill>
                  <a:srgbClr val="F8FAFC"/>
                </a:solidFill>
              </a:rPr>
              <a:t>High ambient irradiance, prolonged dry spells, followed by sudden October humidity spikes triggering fungal and bacterial spore explosions.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🌱 Black Soil &amp; Edaphic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</a:rPr>
              <a:t>Deep Regur (Vertisols): </a:t>
            </a:r>
            <a:r>
              <a:rPr sz="1050">
                <a:solidFill>
                  <a:srgbClr val="F8FAFC"/>
                </a:solidFill>
              </a:rPr>
              <a:t>Dhule soils exhibit high clay fractions (&gt;50%), formed from weathering of Deccan basalt trap rock.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</a:rPr>
              <a:t>High Moisture Retention: </a:t>
            </a:r>
            <a:r>
              <a:rPr sz="1050">
                <a:solidFill>
                  <a:srgbClr val="F8FAFC"/>
                </a:solidFill>
              </a:rPr>
              <a:t>High swell-shrink montmorillonite clay provides moisture during dry spells, but causes severe drainage impediments when waterlogged.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</a:rPr>
              <a:t>Sub-Surface Anaerobiosis: </a:t>
            </a:r>
            <a:r>
              <a:rPr sz="1050">
                <a:solidFill>
                  <a:srgbClr val="F8FAFC"/>
                </a:solidFill>
              </a:rPr>
              <a:t>Continuous monsoon waterlogging in low-lying fields induces root suffocation and predisposes crops to Fusarium Wilt and Root Rot.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59E0B"/>
                </a:solidFill>
              </a:rPr>
              <a:t>Alkaline Soil pH: </a:t>
            </a:r>
            <a:r>
              <a:rPr sz="1050">
                <a:solidFill>
                  <a:srgbClr val="F8FAFC"/>
                </a:solidFill>
              </a:rPr>
              <a:t>Observed soil pH of 7.8–8.2 creates optimal nutrient conditions but demands strict micro-nutrient management (Zinc, Iron).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📍 Taluka Cotton Belts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● Dhule (धुळे) - 88% Suitability
</a:t>
            </a:r>
            <a:r>
              <a:rPr sz="950">
                <a:solidFill>
                  <a:srgbClr val="F8FAFC"/>
                </a:solidFill>
              </a:rPr>
              <a:t>Prime Black Soil Belt (1,874 sq km). Dominant in Bt Hybrid, Long Staple cotton. APMC Dhule is the central market.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● Shirpur (शिरपूर) - 85% Suitability
</a:t>
            </a:r>
            <a:r>
              <a:rPr sz="950">
                <a:solidFill>
                  <a:srgbClr val="F8FAFC"/>
                </a:solidFill>
              </a:rPr>
              <a:t>Tapi River Basin Fertile Plain (1,692 sq km). High-yielding Sankar Bt Cotton with canal &amp; lift irrigation.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● Sindkheda (शिंदखेडा) - 83% Suitability
</a:t>
            </a:r>
            <a:r>
              <a:rPr sz="950">
                <a:solidFill>
                  <a:srgbClr val="F8FAFC"/>
                </a:solidFill>
              </a:rPr>
              <a:t>Alluvial Medium-Heavy Soil (1,562 sq km). Productive Bt Cotton plains with extensive drip fertigation adoption.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0B981"/>
                </a:solidFill>
              </a:rPr>
              <a:t>● Sakri (साक्री) - 80% Suitability
</a:t>
            </a:r>
            <a:r>
              <a:rPr sz="950">
                <a:solidFill>
                  <a:srgbClr val="F8FAFC"/>
                </a:solidFill>
              </a:rPr>
              <a:t>Western Ghats fringe &amp; hilly terrain (2,007 sq km). Rainfed black-loam soil; mix of Desi and hardy Bt varieties.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CHALLENGES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Agricultural Crisis: Foliar Pathologies &amp; Broken AI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Why conventional academic models fail smallholder farmers in actual field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⚠️ The Field Problem: Crop Loss &amp; Late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183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EF4444"/>
                </a:solidFill>
              </a:rPr>
              <a:t>30% - 45% Yield Penalties: </a:t>
            </a:r>
            <a:r>
              <a:rPr sz="1050">
                <a:solidFill>
                  <a:srgbClr val="F8FAFC"/>
                </a:solidFill>
              </a:rPr>
              <a:t>Foliar diseases (Bacterial Blight, Alternaria, Powdery Mildew, Target Spot) and sucking pests (Aphids, Armyworm) cause catastrophic yield losses annually in Dhule.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F4444"/>
                </a:solidFill>
              </a:rPr>
              <a:t>Retrospective Treatment: </a:t>
            </a:r>
            <a:r>
              <a:rPr sz="1050">
                <a:solidFill>
                  <a:srgbClr val="F8FAFC"/>
                </a:solidFill>
              </a:rPr>
              <a:t>Farmers diagnose diseases retrospectively after necrotic lesions cover &gt;20% of leaf area. Chemical sprays at this stage are inefficient and cost-prohibitive.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F4444"/>
                </a:solidFill>
              </a:rPr>
              <a:t>Indiscriminate Agrochemical Overuse: </a:t>
            </a:r>
            <a:r>
              <a:rPr sz="1050">
                <a:solidFill>
                  <a:srgbClr val="F8FAFC"/>
                </a:solidFill>
              </a:rPr>
              <a:t>Lack of accurate point-of-care diagnosis leads to excessive broad-spectrum pesticide spraying, damaging beneficial predator insects (Ladybird beetles) and raising production costs.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F4444"/>
                </a:solidFill>
              </a:rPr>
              <a:t>Market Exploitation: </a:t>
            </a:r>
            <a:r>
              <a:rPr sz="1050">
                <a:solidFill>
                  <a:srgbClr val="F8FAFC"/>
                </a:solidFill>
              </a:rPr>
              <a:t>Smallholder farmers lack real-time visibility into mandi benchmark auction prices, resulting in distress selling below Fair Average Quality (FAQ)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🔬 The Research Trap: 70%+ Literature Data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240280"/>
            <a:ext cx="471830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F59E0B"/>
                </a:solidFill>
              </a:rPr>
              <a:t>Pre-Augmented Duplicate Clumping: </a:t>
            </a:r>
            <a:r>
              <a:rPr sz="1050">
                <a:solidFill>
                  <a:srgbClr val="F8FAFC"/>
                </a:solidFill>
              </a:rPr>
              <a:t>Public benchmark datasets (Kaggle, Mendeley) contain raw archives pre-augmented with rotations, flips, and crops BEFORE splitting. A single leaf exists in 30-40 transformed copies.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9E0B"/>
                </a:solidFill>
              </a:rPr>
              <a:t>Catastrophic Evaluation Leakage: </a:t>
            </a:r>
            <a:r>
              <a:rPr sz="1050">
                <a:solidFill>
                  <a:srgbClr val="F8FAFC"/>
                </a:solidFill>
              </a:rPr>
              <a:t>When researchers apply random 80/20 train/test splits, transformed copies of the same physical leaf land in both partitions!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9E0B"/>
                </a:solidFill>
              </a:rPr>
              <a:t>Artificially Inflated 'Lab' Accuracy: </a:t>
            </a:r>
            <a:r>
              <a:rPr sz="1050">
                <a:solidFill>
                  <a:srgbClr val="F8FAFC"/>
                </a:solidFill>
              </a:rPr>
              <a:t>Neural networks memorize unique leaf contours, camera noise, and backgrounds rather than pathological lesions—generating 99%+ reported lab accuracy but crashing to &lt;50% in real fields.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59E0B"/>
                </a:solidFill>
              </a:rPr>
              <a:t>Class-Label Contradictions: </a:t>
            </a:r>
            <a:r>
              <a:rPr sz="1050">
                <a:solidFill>
                  <a:srgbClr val="F8FAFC"/>
                </a:solidFill>
              </a:rPr>
              <a:t>Audits revealed identical cryptographic image hashes tagged as different diseases across contradictory folder directories.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METHODOLOGICAL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Forensic Dataset Audit &amp; Disjoint Set Union (DSU)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Guaranteeing zero cross-split data leakage across 14,955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267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Stage 1: Cryptographic Audit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14,955 Files Audited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267712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MD5 Hash Extraction: </a:t>
            </a:r>
            <a:r>
              <a:rPr sz="900">
                <a:solidFill>
                  <a:srgbClr val="F8FAFC"/>
                </a:solidFill>
              </a:rPr>
              <a:t>Computed cryptographic digests for every file across Original and Augmented directories.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OS Artifacts Purged: </a:t>
            </a:r>
            <a:r>
              <a:rPr sz="900">
                <a:solidFill>
                  <a:srgbClr val="F8FAFC"/>
                </a:solidFill>
              </a:rPr>
              <a:t>4 macOS '.DS_Store' metadata files detected and safely eliminated.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Cross-Class Clashes: </a:t>
            </a:r>
            <a:r>
              <a:rPr sz="900">
                <a:solidFill>
                  <a:srgbClr val="F8FAFC"/>
                </a:solidFill>
              </a:rPr>
              <a:t>14 images with identical cryptographic hashes had contradictory disease labels and were permanently purged.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10512"/>
            <a:ext cx="2267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Stage 2: DSU Connected Clustering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5,852 Physical Leaf Clusters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560320"/>
            <a:ext cx="2267712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Disjoint Set Union (DSU): </a:t>
            </a:r>
            <a:r>
              <a:rPr sz="900">
                <a:solidFill>
                  <a:srgbClr val="F8FAFC"/>
                </a:solidFill>
              </a:rPr>
              <a:t>Engineered a graph clustering algorithm linking pre-augmented variants back to root base leaf identities.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Heuristic &amp; Path Grouping: </a:t>
            </a:r>
            <a:r>
              <a:rPr sz="900">
                <a:solidFill>
                  <a:srgbClr val="F8FAFC"/>
                </a:solidFill>
              </a:rPr>
              <a:t>Parsed prefix patterns (rotation_, contrast_, flip_, crop_) to group all derived synthetic variants.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Isolated Identities: </a:t>
            </a:r>
            <a:r>
              <a:rPr sz="900">
                <a:solidFill>
                  <a:srgbClr val="F8FAFC"/>
                </a:solidFill>
              </a:rPr>
              <a:t>Formed 5,852 strictly disjoint physical leaf clusters containing 14,923 verified valid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10512"/>
            <a:ext cx="2267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Stage 3: Stratified Group Partition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Zero Overlap (|Train ∩ Test| = 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560320"/>
            <a:ext cx="2267712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Cluster-Level Splitting: </a:t>
            </a:r>
            <a:r>
              <a:rPr sz="900">
                <a:solidFill>
                  <a:srgbClr val="F8FAFC"/>
                </a:solidFill>
              </a:rPr>
              <a:t>All images of a leaf cluster were assigned EN BLOC to either Train, Val, or Test.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Train Set (~70%): </a:t>
            </a:r>
            <a:r>
              <a:rPr sz="900">
                <a:solidFill>
                  <a:srgbClr val="F8FAFC"/>
                </a:solidFill>
              </a:rPr>
              <a:t>10,418 images (only set subjected to on-the-fly augmentation).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Validation Set (~15%): </a:t>
            </a:r>
            <a:r>
              <a:rPr sz="900">
                <a:solidFill>
                  <a:srgbClr val="F8FAFC"/>
                </a:solidFill>
              </a:rPr>
              <a:t>887 images (strictly unaugmented physical leaves for model selection).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Untouched Test Set (~15%): </a:t>
            </a:r>
            <a:r>
              <a:rPr sz="900">
                <a:solidFill>
                  <a:srgbClr val="F8FAFC"/>
                </a:solidFill>
              </a:rPr>
              <a:t>872 images (100% clean benchmark for final unbiased evaluation).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810512"/>
            <a:ext cx="22677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Stage 4: Mathematical Verification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Cryptographic Proof of Purity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560320"/>
            <a:ext cx="2267712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Intersection Verification: </a:t>
            </a:r>
            <a:r>
              <a:rPr sz="900">
                <a:solidFill>
                  <a:srgbClr val="F8FAFC"/>
                </a:solidFill>
              </a:rPr>
              <a:t>Automated MD5 intersection script proved $|Train \cap Test| = 0$.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Generalization Proof: </a:t>
            </a:r>
            <a:r>
              <a:rPr sz="900">
                <a:solidFill>
                  <a:srgbClr val="F8FAFC"/>
                </a:solidFill>
              </a:rPr>
              <a:t>Validation accuracy (90.4%) closely mirrored untouched test accuracy (89.9%), proving genuine feature learning without memorization.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34D399"/>
                </a:solidFill>
              </a:rPr>
              <a:t>Benchmark Foundation: </a:t>
            </a:r>
            <a:r>
              <a:rPr sz="900">
                <a:solidFill>
                  <a:srgbClr val="F8FAFC"/>
                </a:solidFill>
              </a:rPr>
              <a:t>Provides a trustworthy reference for regional deployment in Dhule.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MACHINE LEARNING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MobileNetV2 Transfer Learning Benchmark &amp;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Rigorous evaluation across 871 untouched test leaves (9 pathology classes)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🧠 MobileNetV2 Architecture &amp; 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1830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F8FAFC"/>
                </a:solidFill>
              </a:rPr>
              <a:t>Backbone Network: </a:t>
            </a:r>
            <a:r>
              <a:rPr sz="950">
                <a:solidFill>
                  <a:srgbClr val="F8FAFC"/>
                </a:solidFill>
              </a:rPr>
              <a:t>MobileNetV2 (Sandler et al., CVPR 2018) with depthwise separable convolutions and inverted residual bottlenecks.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8FAFC"/>
                </a:solidFill>
              </a:rPr>
              <a:t>Pretrained Representations: </a:t>
            </a:r>
            <a:r>
              <a:rPr sz="950">
                <a:solidFill>
                  <a:srgbClr val="F8FAFC"/>
                </a:solidFill>
              </a:rPr>
              <a:t>ImageNet-1k initialized feature extractor with frozen base layers for stable foliar feature transfer.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8FAFC"/>
                </a:solidFill>
              </a:rPr>
              <a:t>Edge Inference Latency: </a:t>
            </a:r>
            <a:r>
              <a:rPr sz="950">
                <a:solidFill>
                  <a:srgbClr val="F8FAFC"/>
                </a:solidFill>
              </a:rPr>
              <a:t>~45 ms inference latency on standard mobile/server hardware (~3.5 Million parameters). Ideal for rural deployment.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8FAFC"/>
                </a:solidFill>
              </a:rPr>
              <a:t>Balanced Cross-Entropy Loss: </a:t>
            </a:r>
            <a:r>
              <a:rPr sz="950">
                <a:solidFill>
                  <a:srgbClr val="F8FAFC"/>
                </a:solidFill>
              </a:rPr>
              <a:t>Inverse class frequency weighting: W_c = N_total / (K * N_c) to eliminate majority class bias.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8FAFC"/>
                </a:solidFill>
              </a:rPr>
              <a:t>Key Overall Performance Metrics (Untouched Test Leaves):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   ● Overall Test Accuracy: </a:t>
            </a:r>
            <a:r>
              <a:rPr sz="950">
                <a:solidFill>
                  <a:srgbClr val="F59E0B"/>
                </a:solidFill>
              </a:rPr>
              <a:t>89.90% (783 of 871 correctly diagnosed)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   ● Macro F1-Score: </a:t>
            </a:r>
            <a:r>
              <a:rPr sz="950">
                <a:solidFill>
                  <a:srgbClr val="F8FAFC"/>
                </a:solidFill>
              </a:rPr>
              <a:t>0.8741 (rigorous unweighted class balance)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   ● Weighted F1-Score: </a:t>
            </a:r>
            <a:r>
              <a:rPr sz="950">
                <a:solidFill>
                  <a:srgbClr val="F8FAFC"/>
                </a:solidFill>
              </a:rPr>
              <a:t>0.8966 | Macro Precision: 0.8660 | Macro Recall: 0.8905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   ● Total Misclassifications: </a:t>
            </a:r>
            <a:r>
              <a:rPr sz="950">
                <a:solidFill>
                  <a:srgbClr val="F59E0B"/>
                </a:solidFill>
              </a:rPr>
              <a:t>Only 88 images across all 9 test categories (10.10%)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📊 Class-Wise Performance on Untouched Test Leaves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55664" y="2240280"/>
          <a:ext cx="480974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77240"/>
                <a:gridCol w="777240"/>
                <a:gridCol w="786384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Disease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Test Leaves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Alternaria Leaf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Aphids (मावा)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Army Worm (अळी)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Bacterial Blight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Fusarium Wilt (मर)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Healthy Leaf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Powdery Mildew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Target Spot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Verticillium Wilt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0.952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FULL-STACK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Khandesh Cotton Farm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Asynchronous FastAPI microservices, Leaflet GIS, and responsive React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💻 Client Layer (React &amp; Vite)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React 18 &amp; TypeScript: </a:t>
            </a:r>
            <a:r>
              <a:rPr sz="950">
                <a:solidFill>
                  <a:srgbClr val="F8FAFC"/>
                </a:solidFill>
              </a:rPr>
              <a:t>Type-safe, component-driven reactive single-page architecture built with Vite bundler for sub-second hot reload.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Leaflet Interactive GIS: </a:t>
            </a:r>
            <a:r>
              <a:rPr sz="950">
                <a:solidFill>
                  <a:srgbClr val="F8FAFC"/>
                </a:solidFill>
              </a:rPr>
              <a:t>Multi-layer tile switching: Google Road Map, Google Satellite (Farmlands), Google Terrain, and OpenStreetMap.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Dynamic Agronomic Charts: </a:t>
            </a:r>
            <a:r>
              <a:rPr sz="950">
                <a:solidFill>
                  <a:srgbClr val="F8FAFC"/>
                </a:solidFill>
              </a:rPr>
              <a:t>Recharts SVG visualizations for APMC Mandi price trajectories, moisture metrics, and factor breakdown bars.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Bilingual UI: </a:t>
            </a:r>
            <a:r>
              <a:rPr sz="950">
                <a:solidFill>
                  <a:srgbClr val="F8FAFC"/>
                </a:solidFill>
              </a:rPr>
              <a:t>Integrated Marathi (मराठी) and English terminology for native Khandesh farmer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⚡ Backend API (FastAPI)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34D399"/>
                </a:solidFill>
              </a:rPr>
              <a:t>High-Throughput ASGI: </a:t>
            </a:r>
            <a:r>
              <a:rPr sz="950">
                <a:solidFill>
                  <a:srgbClr val="F8FAFC"/>
                </a:solidFill>
              </a:rPr>
              <a:t>FastAPI asynchronous runtime powered by Uvicorn on port 8000 with auto-generated OpenAPI/Swagger interactive docs.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4D399"/>
                </a:solidFill>
              </a:rPr>
              <a:t>PyTorch Inference Engine: </a:t>
            </a:r>
            <a:r>
              <a:rPr sz="950">
                <a:solidFill>
                  <a:srgbClr val="F8FAFC"/>
                </a:solidFill>
              </a:rPr>
              <a:t>In-memory singleton model service executing MobileNetV2 forward pass in ~45ms per image.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4D399"/>
                </a:solidFill>
              </a:rPr>
              <a:t>Multi-Factor Suitability: </a:t>
            </a:r>
            <a:r>
              <a:rPr sz="950">
                <a:solidFill>
                  <a:srgbClr val="F8FAFC"/>
                </a:solidFill>
              </a:rPr>
              <a:t>Heuristic agronomic engine assessing Open-Meteo ambient temp, soil pH, clay fraction, and irrigation access.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34D399"/>
                </a:solidFill>
              </a:rPr>
              <a:t>SQLite Persistence: </a:t>
            </a:r>
            <a:r>
              <a:rPr sz="950">
                <a:solidFill>
                  <a:srgbClr val="F8FAFC"/>
                </a:solidFill>
              </a:rPr>
              <a:t>Lightweight relational database logging user farm coordinates, historical diagnoses, and agronomic audit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🌐 Agronomic &amp; Weather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F59E0B"/>
                </a:solidFill>
              </a:rPr>
              <a:t>Open-Meteo Meteorology: </a:t>
            </a:r>
            <a:r>
              <a:rPr sz="950">
                <a:solidFill>
                  <a:srgbClr val="F8FAFC"/>
                </a:solidFill>
              </a:rPr>
              <a:t>Real-time agro-meteorological API fetching live ambient temperature and rainfall projections for Dhule district.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F59E0B"/>
                </a:solidFill>
              </a:rPr>
              <a:t>NBSS&amp;LUP Soil Baselines: </a:t>
            </a:r>
            <a:r>
              <a:rPr sz="950">
                <a:solidFill>
                  <a:srgbClr val="F8FAFC"/>
                </a:solidFill>
              </a:rPr>
              <a:t>ICAR National Bureau of Soil Survey Vertisol data baselines for clay percentage, organic carbon, and cation exchange.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F59E0B"/>
                </a:solidFill>
              </a:rPr>
              <a:t>APMC &amp; Agmarknet Feeds: </a:t>
            </a:r>
            <a:r>
              <a:rPr sz="950">
                <a:solidFill>
                  <a:srgbClr val="F8FAFC"/>
                </a:solidFill>
              </a:rPr>
              <a:t>Daily auction rate integration across Dhule, Shirpur, Jalgaon, Akola, Malegaon, and Chopda agricultural market yards.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F59E0B"/>
                </a:solidFill>
              </a:rPr>
              <a:t>Institutional Advisory: </a:t>
            </a:r>
            <a:r>
              <a:rPr sz="950">
                <a:solidFill>
                  <a:srgbClr val="F8FAFC"/>
                </a:solidFill>
              </a:rPr>
              <a:t>Prescriptions aligned with Krishi Vigyan Kendra (KVK Dhule) and MPKV Rahuri cotton management protocols.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DASHBOARD TOUR •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Farm Overview: Crop Progress &amp; Regional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धुळे कापूस कृषी केंद्र — Macro-level situational awareness for farmers and agricultural officers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🌾 Overview Features &amp; Agronomic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Kharif Crop Stage Timeline: </a:t>
            </a:r>
            <a:r>
              <a:rPr sz="900">
                <a:solidFill>
                  <a:srgbClr val="F8FAFC"/>
                </a:solidFill>
              </a:rPr>
              <a:t>Visual 5-stage tracker (Sowing → Vegetative → Flowering → Boll Stage → Picking) identifying active physiological risks.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Cultivation Acreage KPI: </a:t>
            </a:r>
            <a:r>
              <a:rPr sz="900">
                <a:solidFill>
                  <a:srgbClr val="F8FAFC"/>
                </a:solidFill>
              </a:rPr>
              <a:t>Monitors 1.87 Lakh Hectares under cotton across Dhule, Shirpur, Sindkheda, and Sakri.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Live Mandi Benchmark: </a:t>
            </a:r>
            <a:r>
              <a:rPr sz="900">
                <a:solidFill>
                  <a:srgbClr val="F8FAFC"/>
                </a:solidFill>
              </a:rPr>
              <a:t>Displays current Dhule APMC rate (₹7,250/Qtl, +₹120) alongside Government MSP (₹7,121/Qtl).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Historical Price Trajectory: </a:t>
            </a:r>
            <a:r>
              <a:rPr sz="900">
                <a:solidFill>
                  <a:srgbClr val="F8FAFC"/>
                </a:solidFill>
              </a:rPr>
              <a:t>Interactive SVG area chart tracking April to October price evolution across Khandesh market yards.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Taluka Suitability Index: </a:t>
            </a:r>
            <a:r>
              <a:rPr sz="900">
                <a:solidFill>
                  <a:srgbClr val="F8FAFC"/>
                </a:solidFill>
              </a:rPr>
              <a:t>Interactive progress bars ranking all 4 talukas with soil type, area, and dominant cotton hybrid recommendations.</a:t>
            </a:r>
          </a:p>
        </p:txBody>
      </p:sp>
      <p:pic>
        <p:nvPicPr>
          <p:cNvPr id="9" name="Picture 8" descr="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28232" cy="3856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DASHBOARD TOUR •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Agro-Ecological GIS Map &amp; Soil Suitability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धुळे जमीन व हवामान उपयुक्तता नकाशा — Georeferenced agronomic assessment for precision planting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🗺️ GIS Mapping &amp; Suitability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34D399"/>
                </a:solidFill>
              </a:rPr>
              <a:t>Interactive Google Layers: </a:t>
            </a:r>
            <a:r>
              <a:rPr sz="900">
                <a:solidFill>
                  <a:srgbClr val="F8FAFC"/>
                </a:solidFill>
              </a:rPr>
              <a:t>Switch dynamically between Google Road Network, Google Satellite Farmland Imagery, Google Terrain, and OpenStreetMap.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4D399"/>
                </a:solidFill>
              </a:rPr>
              <a:t>Color-Coded Taluka Belts: </a:t>
            </a:r>
            <a:r>
              <a:rPr sz="900">
                <a:solidFill>
                  <a:srgbClr val="F8FAFC"/>
                </a:solidFill>
              </a:rPr>
              <a:t>GIS circle overlays mapping regional suitability buffers: Dhule Central (88%), Shirpur Tapi Basin (85%), Sindkheda (83%), Sakri (80%).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4D399"/>
                </a:solidFill>
              </a:rPr>
              <a:t>One-Click Field Geocoding: </a:t>
            </a:r>
            <a:r>
              <a:rPr sz="900">
                <a:solidFill>
                  <a:srgbClr val="F8FAFC"/>
                </a:solidFill>
              </a:rPr>
              <a:t>Farmers can tap any field on the map to auto-populate exact GPS coordinates for micro-climatic evaluation.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4D399"/>
                </a:solidFill>
              </a:rPr>
              <a:t>Multi-Factor Factor Analysis: </a:t>
            </a:r>
            <a:r>
              <a:rPr sz="900">
                <a:solidFill>
                  <a:srgbClr val="F8FAFC"/>
                </a:solidFill>
              </a:rPr>
              <a:t>Evaluates live ambient temperature (Open-Meteo), soil pH (8.1 Vertisol baseline), clay fraction (&gt;50%), and supplemental irrigation support.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34D399"/>
                </a:solidFill>
              </a:rPr>
              <a:t>Agronomic Advisory Output: </a:t>
            </a:r>
            <a:r>
              <a:rPr sz="900">
                <a:solidFill>
                  <a:srgbClr val="F8FAFC"/>
                </a:solidFill>
              </a:rPr>
              <a:t>Generates tailored recommendations, moisture risk warnings, and soil testing reminders for KVK Dhule.</a:t>
            </a:r>
          </a:p>
        </p:txBody>
      </p:sp>
      <p:pic>
        <p:nvPicPr>
          <p:cNvPr id="9" name="Picture 8" descr="02_dashboard_suita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28232" cy="3856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DASHBOARD TOUR •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Point-of-Care Leaf Health Diagnostic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कापूस पान रोग निदान — MobileNetV2 computer vision inference with localized chemical prescriptions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🌿 AI Diagnostic Workflow &amp; Prescriptions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Instant Foliar Diagnosis: </a:t>
            </a:r>
            <a:r>
              <a:rPr sz="900">
                <a:solidFill>
                  <a:srgbClr val="F8FAFC"/>
                </a:solidFill>
              </a:rPr>
              <a:t>Farmers upload leaf closeup photos via drag-and-drop or smartphone camera; processed in ~45ms.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9 Pathology Detectors: </a:t>
            </a:r>
            <a:r>
              <a:rPr sz="900">
                <a:solidFill>
                  <a:srgbClr val="F8FAFC"/>
                </a:solidFill>
              </a:rPr>
              <a:t>Detects Alternaria Leaf Spot, Aphids, Armyworm, Bacterial Blight, Curl Virus, Fusarium Wilt, Healthy Leaf, Powdery Mildew, and Target Spot.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Softmax Confidence &amp; Top-3 Probabilities: </a:t>
            </a:r>
            <a:r>
              <a:rPr sz="900">
                <a:solidFill>
                  <a:srgbClr val="F8FAFC"/>
                </a:solidFill>
              </a:rPr>
              <a:t>Displays classification confidence alongside ranking of top 3 probable diseases to support nuanced agronomic judgment.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Actionable Chemical Advisory: </a:t>
            </a:r>
            <a:r>
              <a:rPr sz="900">
                <a:solidFill>
                  <a:srgbClr val="F8FAFC"/>
                </a:solidFill>
              </a:rPr>
              <a:t>Provides exact fungicide/insecticide names, spray dosage (e.g., Mancozeb 75 WP @ 2.5 g/L, Streptocycline @ 0.5 g/L), and water dilution rates.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Prophylactic Measures: </a:t>
            </a:r>
            <a:r>
              <a:rPr sz="900">
                <a:solidFill>
                  <a:srgbClr val="F8FAFC"/>
                </a:solidFill>
              </a:rPr>
              <a:t>Outlines biological pest control (ladybird beetles, pheromone traps) and 3-year crop rotation schedules.</a:t>
            </a:r>
          </a:p>
        </p:txBody>
      </p:sp>
      <p:pic>
        <p:nvPicPr>
          <p:cNvPr id="9" name="Picture 8" descr="03_dashboard_leaf_health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28232" cy="3856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DASHBOARD TOUR •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Mandi Market Intelligence &amp; APMC Price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कापूस बाजारभाव — Real-time price transparency across Dhule, Shirpur, Jalgaon, and Akola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657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💰 Market Intelligence &amp; Farmer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F59E0B"/>
                </a:solidFill>
              </a:rPr>
              <a:t>Live Mandi Price Feeds: </a:t>
            </a:r>
            <a:r>
              <a:rPr sz="900">
                <a:solidFill>
                  <a:srgbClr val="F8FAFC"/>
                </a:solidFill>
              </a:rPr>
              <a:t>Real-time APMC auction rates for Dhule APMC (₹7,250), Shirpur APMC (₹7,180), Jalgaon (₹7,320), and Akola White Gold (₹7,400).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59E0B"/>
                </a:solidFill>
              </a:rPr>
              <a:t>Market vs. MSP Indicator: </a:t>
            </a:r>
            <a:r>
              <a:rPr sz="900">
                <a:solidFill>
                  <a:srgbClr val="F8FAFC"/>
                </a:solidFill>
              </a:rPr>
              <a:t>Automated comparative tracker highlighting price advantage over Government Minimum Support Price (₹7,121 for Long Staple).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59E0B"/>
                </a:solidFill>
              </a:rPr>
              <a:t>Moisture Premium Guidance: </a:t>
            </a:r>
            <a:r>
              <a:rPr sz="900">
                <a:solidFill>
                  <a:srgbClr val="F8FAFC"/>
                </a:solidFill>
              </a:rPr>
              <a:t>Advises farmers on sun-drying practices to maintain moisture below 8%, unlocking ₹150–250/Qtl quality premiums at auction.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59E0B"/>
                </a:solidFill>
              </a:rPr>
              <a:t>Cross-Mandi Arbitrage: </a:t>
            </a:r>
            <a:r>
              <a:rPr sz="900">
                <a:solidFill>
                  <a:srgbClr val="F8FAFC"/>
                </a:solidFill>
              </a:rPr>
              <a:t>Visual bar chart allows farmers to evaluate transportation costs vs. higher price spreads in neighboring APMCs (e.g. Jalgaon vs Dhule).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59E0B"/>
                </a:solidFill>
              </a:rPr>
              <a:t>e-NAM Integration: </a:t>
            </a:r>
            <a:r>
              <a:rPr sz="900">
                <a:solidFill>
                  <a:srgbClr val="F8FAFC"/>
                </a:solidFill>
              </a:rPr>
              <a:t>Encourages registration on the National Agriculture Market for transparent electronic bidding without intermediary brokerage.</a:t>
            </a:r>
          </a:p>
        </p:txBody>
      </p:sp>
      <p:pic>
        <p:nvPicPr>
          <p:cNvPr id="9" name="Picture 8" descr="04_dashboard_mandi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28232" cy="38569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SOCIO-ECONOMIC &amp; AGRONOMIC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Tangible Impacts for Smallholder Farmers in Dhule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Transforming agricultural productivity, chemical safety, and market bargaining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🌱 Targeted Disease Interventions &amp; Cost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183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Eliminates blind broad-spectrum pesticide applications, saving ₹2,500–₹4,000 per acre in unnecessary chemical expenses.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Prevents epidemic crop failure through early detection at the initial lesion stage before pathogen spores spread across canopy.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📈 Market Price Bargaining &amp; Income Enhancement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194560"/>
            <a:ext cx="47183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Eliminates middleman price asymmetry by equipping farmers with live daily APMC auction benchmarks.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Moisture management guidance prevents unfair commercial deductions of 5%–10% at private ginning mills.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75504" cy="214884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🏛️ Institutional Knowledge Bridging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79"/>
            <a:ext cx="47183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Connects ICAR, MPKV Rahuri, and Krishi Vigyan Kendra (KVK Dhule) research advisories directly to smallholder fields.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Provides direct hotline contact to District Agricultural Officer (DAO) and APMC main yard.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3977639"/>
            <a:ext cx="5175504" cy="2148840"/>
          </a:xfrm>
          <a:prstGeom prst="roundRect">
            <a:avLst/>
          </a:prstGeom>
          <a:solidFill>
            <a:srgbClr val="10201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4142231"/>
            <a:ext cx="47183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🌾 Environmental &amp; Soil Health Sustainability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4526279"/>
            <a:ext cx="47183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Reduced chemical spraying preserves beneficial pollinator insects and soil microbiological health in Vertisols.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8FAFC"/>
                </a:solidFill>
              </a:rPr>
              <a:t>● Encourages integrated pest management (IPM), neem formulations, and bio-fertilizer usage.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●  PHASE 2 ROADMAP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From Phase 1 Baseline to Field Deployment in Dhule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7BAAD"/>
                </a:solidFill>
              </a:defRPr>
            </a:pPr>
            <a:r>
              <a:t>Bridging laboratory benchmark models into resilient rural point-of-care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✅ Phase 1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Forensic Leakage Audit: </a:t>
            </a:r>
            <a:r>
              <a:rPr sz="950">
                <a:solidFill>
                  <a:srgbClr val="F8FAFC"/>
                </a:solidFill>
              </a:rPr>
              <a:t>Successfully purged 14 conflicting hashes and isolated 5,852 physical leaf clusters via DSU clustering.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Clean Transfer Learning: </a:t>
            </a:r>
            <a:r>
              <a:rPr sz="950">
                <a:solidFill>
                  <a:srgbClr val="F8FAFC"/>
                </a:solidFill>
              </a:rPr>
              <a:t>MobileNetV2 achieved 89.90% accuracy and 0.8741 Macro-F1 on strictly untouched test leaf clusters.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Operational Web Platform: </a:t>
            </a:r>
            <a:r>
              <a:rPr sz="950">
                <a:solidFill>
                  <a:srgbClr val="F8FAFC"/>
                </a:solidFill>
              </a:rPr>
              <a:t>Production-grade FastAPI backend + React Vite Leaflet frontend running locally with sub-second response times.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0B981"/>
                </a:solidFill>
              </a:rPr>
              <a:t>Agro-Climatic Integration: </a:t>
            </a:r>
            <a:r>
              <a:rPr sz="950">
                <a:solidFill>
                  <a:srgbClr val="F8FAFC"/>
                </a:solidFill>
              </a:rPr>
              <a:t>Real-time Open-Meteo weather and NBSS&amp;LUP soil baselines 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🚀 Phase 2 Field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34D399"/>
                </a:solidFill>
              </a:rPr>
              <a:t>On-Site Leaf Acquisition: </a:t>
            </a:r>
            <a:r>
              <a:rPr sz="950">
                <a:solidFill>
                  <a:srgbClr val="F8FAFC"/>
                </a:solidFill>
              </a:rPr>
              <a:t>Partner with College of Agriculture, Dhule (MPKV Rahuri) and KVK Dhule to collect in-situ field leaf images.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34D399"/>
                </a:solidFill>
              </a:rPr>
              <a:t>Domain Shift Benchmarking: </a:t>
            </a:r>
            <a:r>
              <a:rPr sz="950">
                <a:solidFill>
                  <a:srgbClr val="F8FAFC"/>
                </a:solidFill>
              </a:rPr>
              <a:t>Quantify out-of-distribution performance drops caused by ambient dust, direct sunlight glare, and soil splash.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34D399"/>
                </a:solidFill>
              </a:rPr>
              <a:t>Few-Shot Prototypical Nets: </a:t>
            </a:r>
            <a:r>
              <a:rPr sz="950">
                <a:solidFill>
                  <a:srgbClr val="F8FAFC"/>
                </a:solidFill>
              </a:rPr>
              <a:t>Train metric-learning episodic models capable of recognizing new disease variants with &lt;10 field examples.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34D399"/>
                </a:solidFill>
              </a:rPr>
              <a:t>Lightweight Edge Quantization: </a:t>
            </a:r>
            <a:r>
              <a:rPr sz="950">
                <a:solidFill>
                  <a:srgbClr val="F8FAFC"/>
                </a:solidFill>
              </a:rPr>
              <a:t>Quantize PyTorch model to INT8 ONNX / TFLite for zero-latency execution on budget Android smartphones.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3241A"/>
          </a:solidFill>
          <a:ln w="15240"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10512"/>
            <a:ext cx="2871216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📱 Product &amp; Rural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240280"/>
            <a:ext cx="287121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Offline-First Android App: </a:t>
            </a:r>
            <a:r>
              <a:rPr sz="950">
                <a:solidFill>
                  <a:srgbClr val="F8FAFC"/>
                </a:solidFill>
              </a:rPr>
              <a:t>Progressive Web App (PWA) / native Android APK with local SQLite caching for internet-deprived farm pockets.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Voice Advisory in Khandeshi: </a:t>
            </a:r>
            <a:r>
              <a:rPr sz="950">
                <a:solidFill>
                  <a:srgbClr val="F8FAFC"/>
                </a:solidFill>
              </a:rPr>
              <a:t>Integrate text-to-speech audio guidance in local Khandeshi and Marathi dialects for illiterate farmers.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Satellite Drone Integration: </a:t>
            </a:r>
            <a:r>
              <a:rPr sz="950">
                <a:solidFill>
                  <a:srgbClr val="F8FAFC"/>
                </a:solidFill>
              </a:rPr>
              <a:t>Incorporate multi-spectral NDVI drone imagery to detect canopy stress zones prior to visible leaf necrosis.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59E0B"/>
                </a:solidFill>
              </a:rPr>
              <a:t>SMS &amp; WhatsApp Bot: </a:t>
            </a:r>
            <a:r>
              <a:rPr sz="950">
                <a:solidFill>
                  <a:srgbClr val="F8FAFC"/>
                </a:solidFill>
              </a:rPr>
              <a:t>Daily automated Mandi price alerts and weather warnings sent directly to registered farmer mobile numbers.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E1C14"/>
          </a:solidFill>
          <a:ln w="15240">
            <a:solidFill>
              <a:srgbClr val="1A3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🌾 CONCLUSION &amp; PROJECT IMPACT</a:t>
            </a:r>
          </a:p>
          <a:p>
            <a:pPr>
              <a:spcAft>
                <a:spcPts val="800"/>
              </a:spcAft>
              <a:defRPr sz="3000" b="1">
                <a:solidFill>
                  <a:srgbClr val="F8FAFC"/>
                </a:solidFill>
              </a:defRPr>
            </a:pPr>
            <a:r>
              <a:t>Scientific Rigor Meets Smallholder Farmer Empowerment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A scientifically verified, leakage-proof computer vision pipeline and production-grade agro-intelligence hub for Khandesh cotton farmers.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291840"/>
            <a:ext cx="3108960" cy="1645920"/>
          </a:xfrm>
          <a:prstGeom prst="roundRect">
            <a:avLst/>
          </a:prstGeom>
          <a:solidFill>
            <a:srgbClr val="142A1E"/>
          </a:solidFill>
          <a:ln>
            <a:solidFill>
              <a:srgbClr val="22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🔬 Methodological Rigor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Proved and solved benchmark dataset leakage using cryptographic hashing and DSU cluster partitioning across 14,955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291840"/>
            <a:ext cx="3108960" cy="1645920"/>
          </a:xfrm>
          <a:prstGeom prst="roundRect">
            <a:avLst/>
          </a:prstGeom>
          <a:solidFill>
            <a:srgbClr val="142A1E"/>
          </a:solidFill>
          <a:ln>
            <a:solidFill>
              <a:srgbClr val="22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🧠 89.90% Test Accuracy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Delivered lightweight MobileNetV2 transfer learning baseline with class-balanced weighting on strictly untouched test leaves.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291840"/>
            <a:ext cx="3108960" cy="1645920"/>
          </a:xfrm>
          <a:prstGeom prst="roundRect">
            <a:avLst/>
          </a:prstGeom>
          <a:solidFill>
            <a:srgbClr val="142A1E"/>
          </a:solidFill>
          <a:ln>
            <a:solidFill>
              <a:srgbClr val="22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🚜 Practical Rural Utility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Full-stack GIS map, instant leaf diagnosis, live APMC Mandi prices, and Marathi farmer advisory running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1206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Thank You! Questions &amp; Discussion Welcomed  •  FastAPI Docs: http://localhost:8000/docs  •  Frontend: http://localhost:5173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7364"/>
                </a:solidFill>
              </a:defRPr>
            </a:pPr>
            <a:r>
              <a:t>Khandesh Cotton Farm Intelligence &amp; Disease Diagnostic System  |  Dhule District, Maharashtra  | 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